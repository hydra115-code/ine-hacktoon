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054273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88794561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2127919738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193943275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87237306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43081950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669915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0775382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685243914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527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60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578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507923-C6E9-CD1A-8B35-0A316AB36C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461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004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475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239445-8AB2-128C-749B-2CE33A8AB3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24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00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613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218E54-4FD7-DC3B-7C42-FD81DE895D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45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864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072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13480F-5769-F675-B204-759AD3851D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10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747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17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E2824-E22B-9C91-0CE8-5B34FFDF58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302763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793801198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110906801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682237819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31227901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4413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87475703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54874149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44424769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14310025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617389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125549981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317956351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9374445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1543268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06107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647490922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65212016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96968951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45691416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92121073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327526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82958684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637171635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013460277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43131020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44217561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11609214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031197968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21717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319555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522936710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03643457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646195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659343155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75986686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838364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97898277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59709949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480156506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978553348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51733460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887935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81656723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1833778803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996951972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90615816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06958398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13463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00420932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66729775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09557046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8924841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226863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71330615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4677908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9825857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6668780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64839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860737481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639092716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22545164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89029116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6519433" name=""/>
          <p:cNvPicPr>
            <a:picLocks noChangeAspect="1"/>
          </p:cNvPicPr>
          <p:nvPr/>
        </p:nvPicPr>
        <p:blipFill rotWithShape="1">
          <a:blip r:embed="rId3"/>
          <a:srcRect l="39227" t="30445" r="0" b="0"/>
          <a:stretch/>
        </p:blipFill>
        <p:spPr bwMode="auto">
          <a:xfrm rot="419753" flipH="0" flipV="0">
            <a:off x="8209742" y="3788744"/>
            <a:ext cx="2057669" cy="1722744"/>
          </a:xfrm>
          <a:prstGeom prst="rect">
            <a:avLst/>
          </a:prstGeom>
        </p:spPr>
      </p:pic>
      <p:sp>
        <p:nvSpPr>
          <p:cNvPr id="1464555483" name="Título 1"/>
          <p:cNvSpPr>
            <a:spLocks noGrp="1"/>
          </p:cNvSpPr>
          <p:nvPr>
            <p:ph type="ctrTitle"/>
          </p:nvPr>
        </p:nvSpPr>
        <p:spPr bwMode="auto">
          <a:xfrm rot="21264018" flipH="0" flipV="0">
            <a:off x="1600288" y="1087955"/>
            <a:ext cx="8005168" cy="195514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es-ES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Democracia Clara: </a:t>
            </a:r>
            <a:br>
              <a:rPr lang="es-ES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</a:br>
            <a:r>
              <a:rPr lang="es-ES" b="0" i="0" u="none">
                <a:solidFill>
                  <a:srgbClr val="CD5FF5"/>
                </a:solidFill>
                <a:latin typeface="Caladea"/>
                <a:ea typeface="Caladea"/>
                <a:cs typeface="Caladea"/>
              </a:rPr>
              <a:t>De la Frustración a la Claridad Electoral</a:t>
            </a:r>
            <a:endParaRPr u="none">
              <a:latin typeface="Caladea"/>
              <a:cs typeface="Caladea"/>
            </a:endParaRPr>
          </a:p>
        </p:txBody>
      </p:sp>
      <p:sp>
        <p:nvSpPr>
          <p:cNvPr id="925581796" name="Subtítulo 2"/>
          <p:cNvSpPr>
            <a:spLocks noGrp="1"/>
          </p:cNvSpPr>
          <p:nvPr>
            <p:ph type="subTitle" idx="1"/>
          </p:nvPr>
        </p:nvSpPr>
        <p:spPr bwMode="auto">
          <a:xfrm rot="21317758">
            <a:off x="819344" y="3051271"/>
            <a:ext cx="9144000" cy="1655761"/>
          </a:xfrm>
        </p:spPr>
        <p:txBody>
          <a:bodyPr/>
          <a:lstStyle/>
          <a:p>
            <a:pPr>
              <a:defRPr/>
            </a:pPr>
            <a:r>
              <a:rPr lang="es-ES" i="1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“Transformando Bases de Datos complejos en historias comprensibles, evidencia auditable y gráficos al instante mediante un asistente inteligente”.</a:t>
            </a:r>
            <a:endParaRPr i="1">
              <a:solidFill>
                <a:schemeClr val="tx1"/>
              </a:solidFill>
              <a:latin typeface="Caladea"/>
              <a:cs typeface="Caladea"/>
            </a:endParaRPr>
          </a:p>
        </p:txBody>
      </p:sp>
      <p:sp>
        <p:nvSpPr>
          <p:cNvPr id="144033511" name=""/>
          <p:cNvSpPr txBox="1"/>
          <p:nvPr/>
        </p:nvSpPr>
        <p:spPr bwMode="auto">
          <a:xfrm rot="0" flipH="0" flipV="0">
            <a:off x="323602" y="6079191"/>
            <a:ext cx="308561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tx1"/>
                </a:solidFill>
              </a:rPr>
              <a:t>Asistente cívico virtual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16901519" name=""/>
          <p:cNvSpPr txBox="1"/>
          <p:nvPr/>
        </p:nvSpPr>
        <p:spPr bwMode="auto">
          <a:xfrm rot="0" flipH="0" flipV="0">
            <a:off x="8209742" y="6079191"/>
            <a:ext cx="347529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211361" name=""/>
          <p:cNvSpPr/>
          <p:nvPr/>
        </p:nvSpPr>
        <p:spPr bwMode="auto">
          <a:xfrm rot="21017562" flipH="0" flipV="0">
            <a:off x="-1552358" y="-1109143"/>
            <a:ext cx="14711933" cy="2492027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509992309" name="Title 1"/>
          <p:cNvSpPr>
            <a:spLocks noGrp="1"/>
          </p:cNvSpPr>
          <p:nvPr>
            <p:ph type="title"/>
          </p:nvPr>
        </p:nvSpPr>
        <p:spPr bwMode="auto">
          <a:xfrm rot="21013766">
            <a:off x="193861" y="253293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La brecha entre datos abiertos y el ciudadano </a:t>
            </a:r>
            <a:endParaRPr>
              <a:solidFill>
                <a:schemeClr val="bg1"/>
              </a:solidFill>
              <a:latin typeface="Caladea"/>
              <a:cs typeface="Caladea"/>
            </a:endParaRPr>
          </a:p>
        </p:txBody>
      </p:sp>
      <p:sp>
        <p:nvSpPr>
          <p:cNvPr id="1767037984" name=""/>
          <p:cNvSpPr/>
          <p:nvPr/>
        </p:nvSpPr>
        <p:spPr bwMode="auto">
          <a:xfrm rot="0" flipH="0" flipV="0">
            <a:off x="659779" y="2988235"/>
            <a:ext cx="4594411" cy="2185146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662402234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796177" y="3285377"/>
            <a:ext cx="4458013" cy="1774264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20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Ficción de accesibilidad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Sitios oficiales saturados de PDF, tablas infinitas y menús confusos de la década pasada</a:t>
            </a:r>
            <a:r>
              <a:rPr lang="es-ES" sz="24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.</a:t>
            </a:r>
            <a:endParaRPr>
              <a:latin typeface="Caladea"/>
              <a:cs typeface="Caladea"/>
            </a:endParaRPr>
          </a:p>
        </p:txBody>
      </p:sp>
      <p:sp>
        <p:nvSpPr>
          <p:cNvPr id="1667652964" name=""/>
          <p:cNvSpPr/>
          <p:nvPr/>
        </p:nvSpPr>
        <p:spPr bwMode="auto">
          <a:xfrm rot="0" flipH="0" flipV="0">
            <a:off x="6877362" y="1664073"/>
            <a:ext cx="4594410" cy="2047874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970493722" name="Marcador de contenido 2"/>
          <p:cNvSpPr>
            <a:spLocks noGrp="1"/>
          </p:cNvSpPr>
          <p:nvPr/>
        </p:nvSpPr>
        <p:spPr bwMode="auto">
          <a:xfrm flipH="0" flipV="0">
            <a:off x="7013760" y="2023595"/>
            <a:ext cx="4458012" cy="1338168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Frustración y Des conexión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El ciudadano común se rinde antes de encontrar respuestas sencillas sobre su localidad.</a:t>
            </a:r>
            <a:endParaRPr>
              <a:latin typeface="Caladea"/>
              <a:cs typeface="Caladea"/>
            </a:endParaRPr>
          </a:p>
        </p:txBody>
      </p:sp>
      <p:sp>
        <p:nvSpPr>
          <p:cNvPr id="827365124" name=""/>
          <p:cNvSpPr/>
          <p:nvPr/>
        </p:nvSpPr>
        <p:spPr bwMode="auto">
          <a:xfrm rot="0" flipH="0" flipV="0">
            <a:off x="6809163" y="4080808"/>
            <a:ext cx="4594410" cy="2040404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280275613" name="Marcador de contenido 2"/>
          <p:cNvSpPr>
            <a:spLocks noGrp="1"/>
          </p:cNvSpPr>
          <p:nvPr/>
        </p:nvSpPr>
        <p:spPr bwMode="auto">
          <a:xfrm flipH="0" flipV="0">
            <a:off x="6877362" y="4379444"/>
            <a:ext cx="4458012" cy="136039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Riesgo de Desinformación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Sin herramientas directas, los votantes dependen de rumores en vez de fuentes oficiales.</a:t>
            </a:r>
            <a:endParaRPr>
              <a:latin typeface="Caladea"/>
              <a:cs typeface="Caladea"/>
            </a:endParaRPr>
          </a:p>
        </p:txBody>
      </p:sp>
      <p:sp>
        <p:nvSpPr>
          <p:cNvPr id="1871276824" name=""/>
          <p:cNvSpPr/>
          <p:nvPr/>
        </p:nvSpPr>
        <p:spPr bwMode="auto">
          <a:xfrm rot="20938625" flipH="0" flipV="0">
            <a:off x="-1187814" y="-507044"/>
            <a:ext cx="3529852" cy="854448"/>
          </a:xfrm>
          <a:prstGeom prst="rect">
            <a:avLst/>
          </a:prstGeom>
          <a:solidFill>
            <a:srgbClr val="CD5F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pic>
        <p:nvPicPr>
          <p:cNvPr id="1596795148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0344865" y="2710216"/>
            <a:ext cx="1716897" cy="1150322"/>
          </a:xfrm>
          <a:prstGeom prst="rect">
            <a:avLst/>
          </a:prstGeom>
        </p:spPr>
      </p:pic>
      <p:pic>
        <p:nvPicPr>
          <p:cNvPr id="1952860638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9917163" y="5373967"/>
            <a:ext cx="2460245" cy="1494491"/>
          </a:xfrm>
          <a:prstGeom prst="rect">
            <a:avLst/>
          </a:prstGeom>
        </p:spPr>
      </p:pic>
      <p:pic>
        <p:nvPicPr>
          <p:cNvPr id="97404269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3274948" y="3711947"/>
            <a:ext cx="3209521" cy="2406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896626" name=""/>
          <p:cNvSpPr/>
          <p:nvPr/>
        </p:nvSpPr>
        <p:spPr bwMode="auto">
          <a:xfrm rot="21017562" flipH="0" flipV="0">
            <a:off x="-1552357" y="-1109142"/>
            <a:ext cx="14711933" cy="2492026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85678143" name="Title 1"/>
          <p:cNvSpPr>
            <a:spLocks noGrp="1"/>
          </p:cNvSpPr>
          <p:nvPr>
            <p:ph type="title"/>
          </p:nvPr>
        </p:nvSpPr>
        <p:spPr bwMode="auto">
          <a:xfrm rot="21013766">
            <a:off x="193860" y="253292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Un Asistente inteligente con empatía visual</a:t>
            </a:r>
            <a:endParaRPr>
              <a:solidFill>
                <a:schemeClr val="bg1"/>
              </a:solidFill>
              <a:latin typeface="Caladea"/>
              <a:cs typeface="Caladea"/>
            </a:endParaRPr>
          </a:p>
        </p:txBody>
      </p:sp>
      <p:sp>
        <p:nvSpPr>
          <p:cNvPr id="1373621575" name=""/>
          <p:cNvSpPr/>
          <p:nvPr/>
        </p:nvSpPr>
        <p:spPr bwMode="auto">
          <a:xfrm rot="0" flipH="0" flipV="0">
            <a:off x="6809163" y="1577431"/>
            <a:ext cx="4594411" cy="1579622"/>
          </a:xfrm>
          <a:prstGeom prst="flowChartAlternateProcess">
            <a:avLst/>
          </a:prstGeom>
          <a:solidFill>
            <a:srgbClr val="CD5FF5">
              <a:alpha val="79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898730152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6877361" y="1805267"/>
            <a:ext cx="4458012" cy="1011891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20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Conversación natural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Procesa preguntas cotidianas sin requerir jerga técnica ni filtros complicados.</a:t>
            </a:r>
            <a:endParaRPr>
              <a:latin typeface="Caladea"/>
              <a:cs typeface="Caladea"/>
            </a:endParaRPr>
          </a:p>
        </p:txBody>
      </p:sp>
      <p:sp>
        <p:nvSpPr>
          <p:cNvPr id="1569967808" name=""/>
          <p:cNvSpPr/>
          <p:nvPr/>
        </p:nvSpPr>
        <p:spPr bwMode="auto">
          <a:xfrm rot="0" flipH="0" flipV="0">
            <a:off x="4063721" y="3500155"/>
            <a:ext cx="4594411" cy="1344705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782472959" name="Marcador de contenido 2"/>
          <p:cNvSpPr>
            <a:spLocks noGrp="1"/>
          </p:cNvSpPr>
          <p:nvPr/>
        </p:nvSpPr>
        <p:spPr bwMode="auto">
          <a:xfrm flipH="0" flipV="0">
            <a:off x="4131920" y="3672726"/>
            <a:ext cx="4458012" cy="999565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Visualización automática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Genera gráficas e indicadores clave.</a:t>
            </a:r>
            <a:endParaRPr>
              <a:latin typeface="Caladea"/>
              <a:cs typeface="Caladea"/>
            </a:endParaRPr>
          </a:p>
        </p:txBody>
      </p:sp>
      <p:sp>
        <p:nvSpPr>
          <p:cNvPr id="1024854898" name=""/>
          <p:cNvSpPr/>
          <p:nvPr/>
        </p:nvSpPr>
        <p:spPr bwMode="auto">
          <a:xfrm rot="0" flipH="0" flipV="0">
            <a:off x="382600" y="5151342"/>
            <a:ext cx="4594410" cy="1344704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7731383" name="Marcador de contenido 2"/>
          <p:cNvSpPr>
            <a:spLocks noGrp="1"/>
          </p:cNvSpPr>
          <p:nvPr/>
        </p:nvSpPr>
        <p:spPr bwMode="auto">
          <a:xfrm flipH="0" flipV="0">
            <a:off x="518997" y="5237621"/>
            <a:ext cx="4458011" cy="11721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Trazabilidad Transparente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20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Ningún dato requiere fe ciega. Cada cifra publicada incluye un enlace directo al acta de cómputo distrital oficial que la respalda.</a:t>
            </a:r>
            <a:endParaRPr>
              <a:latin typeface="Caladea"/>
              <a:cs typeface="Caladea"/>
            </a:endParaRPr>
          </a:p>
        </p:txBody>
      </p:sp>
      <p:sp>
        <p:nvSpPr>
          <p:cNvPr id="1569047279" name=""/>
          <p:cNvSpPr/>
          <p:nvPr/>
        </p:nvSpPr>
        <p:spPr bwMode="auto">
          <a:xfrm rot="20938625" flipH="0" flipV="0">
            <a:off x="-1187814" y="-507043"/>
            <a:ext cx="3529851" cy="854447"/>
          </a:xfrm>
          <a:prstGeom prst="rect">
            <a:avLst/>
          </a:prstGeom>
          <a:solidFill>
            <a:srgbClr val="CD5F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pic>
        <p:nvPicPr>
          <p:cNvPr id="2002912543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rot="20854179" flipH="0" flipV="0">
            <a:off x="3757303" y="1429620"/>
            <a:ext cx="3134433" cy="1763119"/>
          </a:xfrm>
          <a:prstGeom prst="rect">
            <a:avLst/>
          </a:prstGeom>
        </p:spPr>
      </p:pic>
      <p:pic>
        <p:nvPicPr>
          <p:cNvPr id="1288235896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8297395" y="3307416"/>
            <a:ext cx="3593165" cy="3593165"/>
          </a:xfrm>
          <a:prstGeom prst="rect">
            <a:avLst/>
          </a:prstGeom>
        </p:spPr>
      </p:pic>
      <p:pic>
        <p:nvPicPr>
          <p:cNvPr id="1370243458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577110" y="3288136"/>
            <a:ext cx="2832381" cy="1768744"/>
          </a:xfrm>
          <a:prstGeom prst="doubleWave">
            <a:avLst>
              <a:gd name="adj1" fmla="val 6250"/>
              <a:gd name="adj2" fmla="val 0"/>
            </a:avLst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589206" name=""/>
          <p:cNvSpPr/>
          <p:nvPr/>
        </p:nvSpPr>
        <p:spPr bwMode="auto">
          <a:xfrm rot="21017562" flipH="0" flipV="0">
            <a:off x="-1552357" y="-1109142"/>
            <a:ext cx="14711933" cy="2492026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228283236" name="Title 1"/>
          <p:cNvSpPr>
            <a:spLocks noGrp="1"/>
          </p:cNvSpPr>
          <p:nvPr>
            <p:ph type="title"/>
          </p:nvPr>
        </p:nvSpPr>
        <p:spPr bwMode="auto">
          <a:xfrm rot="21013766">
            <a:off x="193860" y="253292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Composición narrativa dinámica</a:t>
            </a:r>
            <a:endParaRPr>
              <a:solidFill>
                <a:schemeClr val="bg1"/>
              </a:solidFill>
              <a:latin typeface="Caladea"/>
              <a:cs typeface="Caladea"/>
            </a:endParaRPr>
          </a:p>
        </p:txBody>
      </p:sp>
      <p:sp>
        <p:nvSpPr>
          <p:cNvPr id="642741143" name=""/>
          <p:cNvSpPr/>
          <p:nvPr/>
        </p:nvSpPr>
        <p:spPr bwMode="auto">
          <a:xfrm rot="21117967" flipH="0" flipV="0">
            <a:off x="6508721" y="1419427"/>
            <a:ext cx="4594411" cy="1365731"/>
          </a:xfrm>
          <a:prstGeom prst="flowChartAlternateProcess">
            <a:avLst/>
          </a:prstGeom>
          <a:solidFill>
            <a:srgbClr val="CD5FF5">
              <a:alpha val="79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707267879" name="Marcador de contenido 2"/>
          <p:cNvSpPr>
            <a:spLocks noGrp="1"/>
          </p:cNvSpPr>
          <p:nvPr>
            <p:ph idx="1"/>
          </p:nvPr>
        </p:nvSpPr>
        <p:spPr bwMode="auto">
          <a:xfrm rot="21087642" flipH="0" flipV="0">
            <a:off x="6626973" y="1649194"/>
            <a:ext cx="4458012" cy="1011891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Cifras Destacadas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Tarjetas de alto impacto visual para las métricas principales.</a:t>
            </a:r>
            <a:endParaRPr>
              <a:latin typeface="Caladea"/>
              <a:cs typeface="Caladea"/>
            </a:endParaRPr>
          </a:p>
        </p:txBody>
      </p:sp>
      <p:sp>
        <p:nvSpPr>
          <p:cNvPr id="859987779" name=""/>
          <p:cNvSpPr/>
          <p:nvPr/>
        </p:nvSpPr>
        <p:spPr bwMode="auto">
          <a:xfrm rot="20892375" flipH="0" flipV="0">
            <a:off x="1003484" y="4500613"/>
            <a:ext cx="4594411" cy="1344705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984176360" name="Marcador de contenido 2"/>
          <p:cNvSpPr>
            <a:spLocks noGrp="1"/>
          </p:cNvSpPr>
          <p:nvPr/>
        </p:nvSpPr>
        <p:spPr bwMode="auto">
          <a:xfrm rot="20849093" flipH="0" flipV="0">
            <a:off x="1149676" y="4642694"/>
            <a:ext cx="4302024" cy="999565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Evidencia Directa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Enlace directo a las fuentes del INE que certifican la verdad.</a:t>
            </a:r>
            <a:endParaRPr>
              <a:latin typeface="Caladea"/>
              <a:cs typeface="Caladea"/>
            </a:endParaRPr>
          </a:p>
        </p:txBody>
      </p:sp>
      <p:sp>
        <p:nvSpPr>
          <p:cNvPr id="1615557045" name=""/>
          <p:cNvSpPr/>
          <p:nvPr/>
        </p:nvSpPr>
        <p:spPr bwMode="auto">
          <a:xfrm rot="21047338" flipH="0" flipV="0">
            <a:off x="738294" y="2484701"/>
            <a:ext cx="4594410" cy="1344704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264926744" name="Marcador de contenido 2"/>
          <p:cNvSpPr>
            <a:spLocks noGrp="1"/>
          </p:cNvSpPr>
          <p:nvPr/>
        </p:nvSpPr>
        <p:spPr bwMode="auto">
          <a:xfrm rot="21050084" flipH="0" flipV="0">
            <a:off x="806492" y="2673160"/>
            <a:ext cx="4458012" cy="99956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Narrativa Ciudadana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Convierte datos numéricos en una explicación fluida y entendible.</a:t>
            </a:r>
            <a:endParaRPr>
              <a:latin typeface="Caladea"/>
              <a:cs typeface="Caladea"/>
            </a:endParaRPr>
          </a:p>
        </p:txBody>
      </p:sp>
      <p:sp>
        <p:nvSpPr>
          <p:cNvPr id="1416615304" name=""/>
          <p:cNvSpPr/>
          <p:nvPr/>
        </p:nvSpPr>
        <p:spPr bwMode="auto">
          <a:xfrm rot="20938625" flipH="0" flipV="0">
            <a:off x="-1187814" y="-507043"/>
            <a:ext cx="3529851" cy="854447"/>
          </a:xfrm>
          <a:prstGeom prst="rect">
            <a:avLst/>
          </a:prstGeom>
          <a:solidFill>
            <a:srgbClr val="CD5F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662667117" name=""/>
          <p:cNvSpPr/>
          <p:nvPr/>
        </p:nvSpPr>
        <p:spPr bwMode="auto">
          <a:xfrm rot="20892375" flipH="0" flipV="0">
            <a:off x="6602531" y="3592975"/>
            <a:ext cx="4594410" cy="1344704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2113515307" name="Marcador de contenido 2"/>
          <p:cNvSpPr>
            <a:spLocks noGrp="1"/>
          </p:cNvSpPr>
          <p:nvPr/>
        </p:nvSpPr>
        <p:spPr bwMode="auto">
          <a:xfrm rot="20883308" flipH="0" flipV="0">
            <a:off x="6842536" y="3765545"/>
            <a:ext cx="4302024" cy="99956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Transparencia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Sección desplegable con el paso a paso del cálculo para quienes deseen verificarlo.</a:t>
            </a:r>
            <a:endParaRPr>
              <a:latin typeface="Caladea"/>
              <a:cs typeface="Caladea"/>
            </a:endParaRPr>
          </a:p>
        </p:txBody>
      </p:sp>
      <p:pic>
        <p:nvPicPr>
          <p:cNvPr id="17491826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0972285" flipH="0" flipV="0">
            <a:off x="4310304" y="2546290"/>
            <a:ext cx="1500391" cy="976585"/>
          </a:xfrm>
          <a:prstGeom prst="rect">
            <a:avLst/>
          </a:prstGeom>
        </p:spPr>
      </p:pic>
      <p:pic>
        <p:nvPicPr>
          <p:cNvPr id="1486825238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10381642" y="1052634"/>
            <a:ext cx="1808453" cy="1808453"/>
          </a:xfrm>
          <a:prstGeom prst="rect">
            <a:avLst/>
          </a:prstGeom>
        </p:spPr>
      </p:pic>
      <p:pic>
        <p:nvPicPr>
          <p:cNvPr id="2010892007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rot="21020384" flipH="0" flipV="0">
            <a:off x="5038006" y="4409072"/>
            <a:ext cx="1301598" cy="1301598"/>
          </a:xfrm>
          <a:prstGeom prst="rect">
            <a:avLst/>
          </a:prstGeom>
        </p:spPr>
      </p:pic>
      <p:pic>
        <p:nvPicPr>
          <p:cNvPr id="147444959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2036890" flipH="0" flipV="0">
            <a:off x="10882058" y="3691317"/>
            <a:ext cx="638735" cy="638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591855" name=""/>
          <p:cNvSpPr/>
          <p:nvPr/>
        </p:nvSpPr>
        <p:spPr bwMode="auto">
          <a:xfrm rot="21017562" flipH="0" flipV="0">
            <a:off x="-1552357" y="-1109142"/>
            <a:ext cx="14711933" cy="2492026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074477018" name="Title 1"/>
          <p:cNvSpPr>
            <a:spLocks noGrp="1"/>
          </p:cNvSpPr>
          <p:nvPr>
            <p:ph type="title"/>
          </p:nvPr>
        </p:nvSpPr>
        <p:spPr bwMode="auto">
          <a:xfrm rot="21013766">
            <a:off x="193860" y="253292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 sz="3600" b="0" i="0" u="none" strike="noStrike" cap="none" spc="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Matriz de Criterios de Aceptación (CA-01 a CA-10)</a:t>
            </a:r>
            <a:endParaRPr>
              <a:solidFill>
                <a:schemeClr val="bg1"/>
              </a:solidFill>
              <a:latin typeface="Caladea"/>
              <a:cs typeface="Caladea"/>
            </a:endParaRPr>
          </a:p>
        </p:txBody>
      </p:sp>
      <p:sp>
        <p:nvSpPr>
          <p:cNvPr id="1035511837" name=""/>
          <p:cNvSpPr/>
          <p:nvPr/>
        </p:nvSpPr>
        <p:spPr bwMode="auto">
          <a:xfrm rot="0" flipH="0" flipV="0">
            <a:off x="738294" y="5299464"/>
            <a:ext cx="4594411" cy="1365731"/>
          </a:xfrm>
          <a:prstGeom prst="flowChartAlternateProcess">
            <a:avLst/>
          </a:prstGeom>
          <a:solidFill>
            <a:srgbClr val="CD5FF5">
              <a:alpha val="79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936063381" name="Marcador de contenido 2"/>
          <p:cNvSpPr>
            <a:spLocks noGrp="1"/>
          </p:cNvSpPr>
          <p:nvPr>
            <p:ph idx="1"/>
          </p:nvPr>
        </p:nvSpPr>
        <p:spPr bwMode="auto">
          <a:xfrm rot="0" flipH="0" flipV="0">
            <a:off x="738294" y="5417173"/>
            <a:ext cx="4458012" cy="1011891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Versatilidad de Vistas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Soporte de cambio dinámico entre gráficas interactivas y tablas navegables.</a:t>
            </a:r>
            <a:endParaRPr>
              <a:latin typeface="Caladea"/>
              <a:cs typeface="Caladea"/>
            </a:endParaRPr>
          </a:p>
        </p:txBody>
      </p:sp>
      <p:sp>
        <p:nvSpPr>
          <p:cNvPr id="89390819" name=""/>
          <p:cNvSpPr/>
          <p:nvPr/>
        </p:nvSpPr>
        <p:spPr bwMode="auto">
          <a:xfrm rot="0" flipH="0" flipV="0">
            <a:off x="738294" y="3884289"/>
            <a:ext cx="4594411" cy="1344705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239894517" name="Marcador de contenido 2"/>
          <p:cNvSpPr>
            <a:spLocks noGrp="1"/>
          </p:cNvSpPr>
          <p:nvPr/>
        </p:nvSpPr>
        <p:spPr bwMode="auto">
          <a:xfrm rot="0" flipH="0" flipV="0">
            <a:off x="884486" y="4000830"/>
            <a:ext cx="4302024" cy="999565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Reglas de Contenido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Rechazo amigable a preguntas fuera de tema o análisis de causalidad sesgada.</a:t>
            </a:r>
            <a:endParaRPr>
              <a:latin typeface="Caladea"/>
              <a:cs typeface="Caladea"/>
            </a:endParaRPr>
          </a:p>
        </p:txBody>
      </p:sp>
      <p:sp>
        <p:nvSpPr>
          <p:cNvPr id="1753060158" name=""/>
          <p:cNvSpPr/>
          <p:nvPr/>
        </p:nvSpPr>
        <p:spPr bwMode="auto">
          <a:xfrm rot="0" flipH="0" flipV="0">
            <a:off x="738294" y="2484701"/>
            <a:ext cx="4594410" cy="1344704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362681970" name="Marcador de contenido 2"/>
          <p:cNvSpPr>
            <a:spLocks noGrp="1"/>
          </p:cNvSpPr>
          <p:nvPr/>
        </p:nvSpPr>
        <p:spPr bwMode="auto">
          <a:xfrm rot="0" flipH="0" flipV="0">
            <a:off x="806492" y="2673160"/>
            <a:ext cx="4458012" cy="99956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2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adea"/>
                <a:ea typeface="Caladea"/>
                <a:cs typeface="Caladea"/>
              </a:rPr>
              <a:t>Prevención de Alucinaciones</a:t>
            </a:r>
            <a:endParaRPr sz="2200">
              <a:solidFill>
                <a:schemeClr val="bg1">
                  <a:lumMod val="85000"/>
                </a:schemeClr>
              </a:solidFill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r>
              <a:rPr lang="es-ES" sz="18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Cero datos inventados; llamadas estrictas a herramientas.</a:t>
            </a:r>
            <a:endParaRPr>
              <a:latin typeface="Caladea"/>
              <a:cs typeface="Caladea"/>
            </a:endParaRPr>
          </a:p>
        </p:txBody>
      </p:sp>
      <p:sp>
        <p:nvSpPr>
          <p:cNvPr id="588309099" name=""/>
          <p:cNvSpPr/>
          <p:nvPr/>
        </p:nvSpPr>
        <p:spPr bwMode="auto">
          <a:xfrm rot="20938625" flipH="0" flipV="0">
            <a:off x="-1187814" y="-507043"/>
            <a:ext cx="3529851" cy="854447"/>
          </a:xfrm>
          <a:prstGeom prst="rect">
            <a:avLst/>
          </a:prstGeom>
          <a:solidFill>
            <a:srgbClr val="CD5F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367894922" name=""/>
          <p:cNvSpPr/>
          <p:nvPr/>
        </p:nvSpPr>
        <p:spPr bwMode="auto">
          <a:xfrm rot="0" flipH="0" flipV="0">
            <a:off x="6871833" y="1810667"/>
            <a:ext cx="4594410" cy="4700447"/>
          </a:xfrm>
          <a:prstGeom prst="flowChartAlternateProcess">
            <a:avLst/>
          </a:prstGeom>
          <a:solidFill>
            <a:schemeClr val="tx1">
              <a:alpha val="99999"/>
            </a:scheme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145016524" name=""/>
          <p:cNvSpPr/>
          <p:nvPr/>
        </p:nvSpPr>
        <p:spPr bwMode="auto">
          <a:xfrm rot="0" flipH="0" flipV="0">
            <a:off x="7344070" y="5780191"/>
            <a:ext cx="3740510" cy="285855"/>
          </a:xfrm>
          <a:prstGeom prst="flowChartAlternateProcess">
            <a:avLst/>
          </a:prstGeom>
          <a:solidFill>
            <a:srgbClr val="CD5FF5">
              <a:alpha val="80000"/>
            </a:srgbClr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2066080247" name=""/>
          <p:cNvSpPr/>
          <p:nvPr/>
        </p:nvSpPr>
        <p:spPr bwMode="auto">
          <a:xfrm flipH="0" flipV="0">
            <a:off x="7682257" y="4255433"/>
            <a:ext cx="3064136" cy="1310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0" b="1">
                <a:ln w="12700">
                  <a:noFill/>
                </a:ln>
                <a:solidFill>
                  <a:srgbClr val="CD5FF5">
                    <a:alpha val="99999"/>
                  </a:srgbClr>
                </a:solidFill>
              </a:rPr>
              <a:t>100 </a:t>
            </a:r>
            <a:r>
              <a:rPr sz="5400" b="1">
                <a:ln w="12700">
                  <a:noFill/>
                </a:ln>
                <a:solidFill>
                  <a:srgbClr val="CD5FF5">
                    <a:alpha val="99999"/>
                  </a:srgbClr>
                </a:solidFill>
              </a:rPr>
              <a:t>%</a:t>
            </a:r>
            <a:endParaRPr sz="5400" b="1">
              <a:ln w="12700">
                <a:noFill/>
              </a:ln>
              <a:solidFill>
                <a:srgbClr val="CD5FF5">
                  <a:alpha val="99999"/>
                </a:srgbClr>
              </a:solidFill>
            </a:endParaRPr>
          </a:p>
        </p:txBody>
      </p:sp>
      <p:sp>
        <p:nvSpPr>
          <p:cNvPr id="306695015" name=""/>
          <p:cNvSpPr txBox="1"/>
          <p:nvPr/>
        </p:nvSpPr>
        <p:spPr bwMode="auto">
          <a:xfrm rot="0" flipH="0" flipV="0">
            <a:off x="7411322" y="2265454"/>
            <a:ext cx="3549619" cy="1981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Cobertura de Casos de Uso Cívicos</a:t>
            </a:r>
            <a:br>
              <a:rPr sz="2400" b="1">
                <a:solidFill>
                  <a:schemeClr val="bg1"/>
                </a:solidFill>
                <a:latin typeface="Caladea"/>
                <a:ea typeface="Caladea"/>
                <a:cs typeface="Caladea"/>
              </a:rPr>
            </a:br>
            <a:endParaRPr sz="2400" b="1">
              <a:solidFill>
                <a:schemeClr val="bg1"/>
              </a:solidFill>
              <a:latin typeface="Caladea"/>
              <a:cs typeface="Caladea"/>
            </a:endParaRPr>
          </a:p>
          <a:p>
            <a:pPr>
              <a:defRPr/>
            </a:pPr>
            <a:r>
              <a:rPr lang="es-ES" sz="1600" b="0" i="0" u="none" strike="noStrike" cap="none" spc="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Desde consultas demográficas (edad/sexo) hasta comparativas históricas 2009 vs 2024 validadas bajo pruebas exhaustivas.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157708" name=""/>
          <p:cNvSpPr/>
          <p:nvPr/>
        </p:nvSpPr>
        <p:spPr bwMode="auto">
          <a:xfrm rot="21017562" flipH="0" flipV="0">
            <a:off x="-1552357" y="-1109142"/>
            <a:ext cx="14711933" cy="2492026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  <p:sp>
        <p:nvSpPr>
          <p:cNvPr id="1755835542" name="Title 1"/>
          <p:cNvSpPr>
            <a:spLocks noGrp="1"/>
          </p:cNvSpPr>
          <p:nvPr>
            <p:ph type="title"/>
          </p:nvPr>
        </p:nvSpPr>
        <p:spPr bwMode="auto">
          <a:xfrm rot="21013766">
            <a:off x="193860" y="253292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Empoderando al ciudadano con transparencia e innovación </a:t>
            </a:r>
            <a:endParaRPr>
              <a:solidFill>
                <a:schemeClr val="bg1"/>
              </a:solidFill>
              <a:latin typeface="Caladea"/>
              <a:cs typeface="Caladea"/>
            </a:endParaRPr>
          </a:p>
        </p:txBody>
      </p:sp>
      <p:sp>
        <p:nvSpPr>
          <p:cNvPr id="330062344" name="Marcador de contenido 2"/>
          <p:cNvSpPr>
            <a:spLocks noGrp="1"/>
          </p:cNvSpPr>
          <p:nvPr/>
        </p:nvSpPr>
        <p:spPr bwMode="auto">
          <a:xfrm rot="0" flipH="0" flipV="0">
            <a:off x="2037187" y="2929217"/>
            <a:ext cx="8117624" cy="999564"/>
          </a:xfrm>
          <a:prstGeom prst="rect">
            <a:avLst/>
          </a:prstGeom>
          <a:noFill/>
          <a:effectLst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Una solución intuitiva, visual, transparente y rigurosamente auditada. </a:t>
            </a:r>
            <a:endParaRPr/>
          </a:p>
        </p:txBody>
      </p:sp>
      <p:sp>
        <p:nvSpPr>
          <p:cNvPr id="259008267" name=""/>
          <p:cNvSpPr/>
          <p:nvPr/>
        </p:nvSpPr>
        <p:spPr bwMode="auto">
          <a:xfrm rot="20938625" flipH="0" flipV="0">
            <a:off x="-1187814" y="-507043"/>
            <a:ext cx="3529851" cy="854447"/>
          </a:xfrm>
          <a:prstGeom prst="rect">
            <a:avLst/>
          </a:prstGeom>
          <a:solidFill>
            <a:srgbClr val="CD5F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2026-10-31T19:23:22Z</dcterms:modified>
</cp:coreProperties>
</file>