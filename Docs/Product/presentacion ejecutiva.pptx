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s-E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519193" name="Marcador de encabezad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849670720" name="Marcador de fech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s-ES"/>
              <a:t>10/30/2013</a:t>
            </a:fld>
            <a:endParaRPr lang="es-ES"/>
          </a:p>
        </p:txBody>
      </p:sp>
      <p:sp>
        <p:nvSpPr>
          <p:cNvPr id="1807267231" name="Marcador de imagen d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s-ES"/>
          </a:p>
        </p:txBody>
      </p:sp>
      <p:sp>
        <p:nvSpPr>
          <p:cNvPr id="1360484886" name="Marcador de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277159031" name="Marcador de pie de pá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970681333" name="Marcador de número de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641955" name="Marcador de imagen d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259450" name="Marcador de notas 4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s-ES">
              <a:latin typeface="Arial"/>
              <a:cs typeface="Arial"/>
            </a:endParaRPr>
          </a:p>
        </p:txBody>
      </p:sp>
      <p:sp>
        <p:nvSpPr>
          <p:cNvPr id="755610592" name="Marcador de número de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s-ES"/>
              <a:t>1</a:t>
            </a:fld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5729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7859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1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507923-C6E9-CD1A-8B35-0A316AB36C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3070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59425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65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239445-8AB2-128C-749B-2CE33A8AB3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6782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8098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426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218E54-4FD7-DC3B-7C42-FD81DE895D3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5824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0010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444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13480F-5769-F675-B204-759AD3851D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1439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91998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780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E2824-E22B-9C91-0CE8-5B34FFDF58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a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814778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502662000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s-ES"/>
              <a:t>Haga clic para modificar el estilo de subtítulo del patrón</a:t>
            </a:r>
            <a:endParaRPr lang="es-ES"/>
          </a:p>
        </p:txBody>
      </p:sp>
      <p:sp>
        <p:nvSpPr>
          <p:cNvPr id="1018793450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685980657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10578962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y objeto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956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415117178" name="Marcador de conteni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180035101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920449961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837133065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Encabezado de secció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896201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808672740" name="Marcador de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</p:txBody>
      </p:sp>
      <p:sp>
        <p:nvSpPr>
          <p:cNvPr id="409666737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2099530527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036501499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os objeto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365270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029447985" name="Marcador de conteni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357426209" name="Marcador de conteni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942243765" name="Marcador de fech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413123173" name="Marcador de pie de pá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897879432" name="Marcador de número de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ció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21977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746687751" name="Marcador de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</p:txBody>
      </p:sp>
      <p:sp>
        <p:nvSpPr>
          <p:cNvPr id="2069208296" name="Marcador de conteni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609705953" name="Marcador de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</p:txBody>
      </p:sp>
      <p:sp>
        <p:nvSpPr>
          <p:cNvPr id="1146791880" name="Marcador de conteni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950448305" name="Marcador de fech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904605962" name="Marcador de pie de pá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798106726" name="Marcador de número de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olo el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215216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775508678" name="Marcador de fech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781480033" name="Marcador de pie de pá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120925248" name="Marcador de número de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n bl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01868" name="Marcador de fech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721005029" name="Marcador de pie de pá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056871330" name="Marcador de número de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ido con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89192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482101889" name="Marcador de conteni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858565601" name="Marcador de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</p:txBody>
      </p:sp>
      <p:sp>
        <p:nvSpPr>
          <p:cNvPr id="2018267799" name="Marcador de fech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820014966" name="Marcador de pie de pá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531720865" name="Marcador de número de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n con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48465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699060687" name="Marcador de posición de imagen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s-ES"/>
              <a:t>Haga clic en el icono para agregar una imagen</a:t>
            </a:r>
            <a:endParaRPr lang="es-ES"/>
          </a:p>
        </p:txBody>
      </p:sp>
      <p:sp>
        <p:nvSpPr>
          <p:cNvPr id="59889175" name="Marcador de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</p:txBody>
      </p:sp>
      <p:sp>
        <p:nvSpPr>
          <p:cNvPr id="554882879" name="Marcador de fech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795434338" name="Marcador de pie de pá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19731142" name="Marcador de número de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y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456592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590007769" name="Marcador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720576763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640537278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1504373417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y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919166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692467762" name="Marcador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239469818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438690860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960271313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062938" name="Marcador de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294617864" name="Marcador de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120638229" name="Marcador de fech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s-ES"/>
              <a:t>30.10.2013</a:t>
            </a:fld>
            <a:endParaRPr lang="es-ES"/>
          </a:p>
        </p:txBody>
      </p:sp>
      <p:sp>
        <p:nvSpPr>
          <p:cNvPr id="1448407602" name="Marcador de pie de pá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64182436" name="Marcador de número de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0685211" name=""/>
          <p:cNvPicPr>
            <a:picLocks noChangeAspect="1"/>
          </p:cNvPicPr>
          <p:nvPr/>
        </p:nvPicPr>
        <p:blipFill rotWithShape="1">
          <a:blip r:embed="rId3"/>
          <a:srcRect l="39227" t="30445" r="0" b="0"/>
          <a:stretch/>
        </p:blipFill>
        <p:spPr bwMode="auto">
          <a:xfrm rot="419753" flipH="0" flipV="0">
            <a:off x="8209742" y="3788744"/>
            <a:ext cx="2057669" cy="1722744"/>
          </a:xfrm>
          <a:prstGeom prst="rect">
            <a:avLst/>
          </a:prstGeom>
        </p:spPr>
      </p:pic>
      <p:sp>
        <p:nvSpPr>
          <p:cNvPr id="2013714891" name="Título 1"/>
          <p:cNvSpPr>
            <a:spLocks noGrp="1"/>
          </p:cNvSpPr>
          <p:nvPr>
            <p:ph type="ctrTitle"/>
          </p:nvPr>
        </p:nvSpPr>
        <p:spPr bwMode="auto">
          <a:xfrm rot="21264018" flipH="0" flipV="0">
            <a:off x="1600288" y="1087955"/>
            <a:ext cx="8005168" cy="195514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/>
          <a:p>
            <a:pPr algn="l">
              <a:defRPr/>
            </a:pPr>
            <a:r>
              <a:rPr lang="es-ES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Democracia Clara: </a:t>
            </a:r>
            <a:br>
              <a:rPr lang="es-ES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</a:br>
            <a:r>
              <a:rPr lang="es-ES" b="0" i="0" u="none">
                <a:solidFill>
                  <a:srgbClr val="CD5FF5"/>
                </a:solidFill>
                <a:latin typeface="Caladea"/>
                <a:ea typeface="Caladea"/>
                <a:cs typeface="Caladea"/>
              </a:rPr>
              <a:t>De la Frustración a la Claridad Electoral</a:t>
            </a:r>
            <a:endParaRPr u="none">
              <a:latin typeface="Caladea"/>
              <a:cs typeface="Caladea"/>
            </a:endParaRPr>
          </a:p>
        </p:txBody>
      </p:sp>
      <p:sp>
        <p:nvSpPr>
          <p:cNvPr id="1222763654" name="Subtítulo 2"/>
          <p:cNvSpPr>
            <a:spLocks noGrp="1"/>
          </p:cNvSpPr>
          <p:nvPr>
            <p:ph type="subTitle" idx="1"/>
          </p:nvPr>
        </p:nvSpPr>
        <p:spPr bwMode="auto">
          <a:xfrm rot="21317759">
            <a:off x="819344" y="3051271"/>
            <a:ext cx="9144000" cy="1655761"/>
          </a:xfrm>
        </p:spPr>
        <p:txBody>
          <a:bodyPr/>
          <a:lstStyle/>
          <a:p>
            <a:pPr>
              <a:defRPr/>
            </a:pPr>
            <a:r>
              <a:rPr lang="es-ES" i="1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“Transformando Bases de Datos complejas en historias comprensibles, evidencia auditable y gráficos al instante mediante un asistente conversional inteligente”.</a:t>
            </a:r>
            <a:endParaRPr i="1">
              <a:solidFill>
                <a:schemeClr val="tx1"/>
              </a:solidFill>
              <a:latin typeface="Caladea"/>
              <a:cs typeface="Caladea"/>
            </a:endParaRPr>
          </a:p>
        </p:txBody>
      </p:sp>
      <p:sp>
        <p:nvSpPr>
          <p:cNvPr id="439491850" name=""/>
          <p:cNvSpPr txBox="1"/>
          <p:nvPr/>
        </p:nvSpPr>
        <p:spPr bwMode="auto">
          <a:xfrm rot="0" flipH="0" flipV="0">
            <a:off x="323602" y="6079191"/>
            <a:ext cx="30856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tx1"/>
                </a:solidFill>
              </a:rPr>
              <a:t>Asistente cívico virtual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23736472" name=""/>
          <p:cNvSpPr txBox="1"/>
          <p:nvPr/>
        </p:nvSpPr>
        <p:spPr bwMode="auto">
          <a:xfrm rot="0" flipH="0" flipV="0">
            <a:off x="8209742" y="6079191"/>
            <a:ext cx="347529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26218" name=""/>
          <p:cNvSpPr/>
          <p:nvPr/>
        </p:nvSpPr>
        <p:spPr bwMode="auto">
          <a:xfrm rot="21017562" flipH="0" flipV="0">
            <a:off x="-1552358" y="-1109143"/>
            <a:ext cx="14711933" cy="2492027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124772959" name="Title 1"/>
          <p:cNvSpPr>
            <a:spLocks noGrp="1"/>
          </p:cNvSpPr>
          <p:nvPr>
            <p:ph type="title"/>
          </p:nvPr>
        </p:nvSpPr>
        <p:spPr bwMode="auto">
          <a:xfrm rot="21013766">
            <a:off x="193861" y="253293"/>
            <a:ext cx="10515600" cy="1325562"/>
          </a:xfrm>
        </p:spPr>
        <p:txBody>
          <a:bodyPr/>
          <a:lstStyle/>
          <a:p>
            <a:pPr>
              <a:defRPr/>
            </a:pPr>
            <a:r>
              <a:rPr sz="360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La brecha entre datos abiertos y el ciudadano </a:t>
            </a:r>
            <a:endParaRPr>
              <a:solidFill>
                <a:schemeClr val="bg1"/>
              </a:solidFill>
              <a:latin typeface="Caladea"/>
              <a:cs typeface="Caladea"/>
            </a:endParaRPr>
          </a:p>
        </p:txBody>
      </p:sp>
      <p:sp>
        <p:nvSpPr>
          <p:cNvPr id="474705523" name=""/>
          <p:cNvSpPr/>
          <p:nvPr/>
        </p:nvSpPr>
        <p:spPr bwMode="auto">
          <a:xfrm rot="0" flipH="0" flipV="0">
            <a:off x="659779" y="2988235"/>
            <a:ext cx="4594411" cy="2185146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2107464511" name="Marcador de contenido 2"/>
          <p:cNvSpPr>
            <a:spLocks noGrp="1"/>
          </p:cNvSpPr>
          <p:nvPr>
            <p:ph idx="1"/>
          </p:nvPr>
        </p:nvSpPr>
        <p:spPr bwMode="auto">
          <a:xfrm flipH="0" flipV="0">
            <a:off x="796177" y="3285377"/>
            <a:ext cx="4458013" cy="1774264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Ficción de accesibilidad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Sitios oficiales saturados de PDF, tablas infinitas y menús confusos de la década pasada</a:t>
            </a:r>
            <a:r>
              <a:rPr lang="es-ES" sz="2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>
              <a:latin typeface="Caladea"/>
              <a:cs typeface="Caladea"/>
            </a:endParaRPr>
          </a:p>
        </p:txBody>
      </p:sp>
      <p:sp>
        <p:nvSpPr>
          <p:cNvPr id="976515095" name=""/>
          <p:cNvSpPr/>
          <p:nvPr/>
        </p:nvSpPr>
        <p:spPr bwMode="auto">
          <a:xfrm rot="0" flipH="0" flipV="0">
            <a:off x="6877362" y="1664073"/>
            <a:ext cx="4594410" cy="204787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312074234" name="Marcador de contenido 2"/>
          <p:cNvSpPr>
            <a:spLocks noGrp="1"/>
          </p:cNvSpPr>
          <p:nvPr/>
        </p:nvSpPr>
        <p:spPr bwMode="auto">
          <a:xfrm flipH="0" flipV="0">
            <a:off x="7013760" y="2023595"/>
            <a:ext cx="4458012" cy="133816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Frustración y Des conexión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El ciudadano común se rinde antes de encontrar respuestas sencillas sobre su localidad.</a:t>
            </a:r>
            <a:endParaRPr>
              <a:latin typeface="Caladea"/>
              <a:cs typeface="Caladea"/>
            </a:endParaRPr>
          </a:p>
        </p:txBody>
      </p:sp>
      <p:sp>
        <p:nvSpPr>
          <p:cNvPr id="1353462914" name=""/>
          <p:cNvSpPr/>
          <p:nvPr/>
        </p:nvSpPr>
        <p:spPr bwMode="auto">
          <a:xfrm rot="0" flipH="0" flipV="0">
            <a:off x="6809163" y="4080808"/>
            <a:ext cx="4594410" cy="204040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544886614" name="Marcador de contenido 2"/>
          <p:cNvSpPr>
            <a:spLocks noGrp="1"/>
          </p:cNvSpPr>
          <p:nvPr/>
        </p:nvSpPr>
        <p:spPr bwMode="auto">
          <a:xfrm flipH="0" flipV="0">
            <a:off x="6877362" y="4379444"/>
            <a:ext cx="4458012" cy="136039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Riesgo de Desinformación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Sin herramientas directas, los votantes dependen de rumores en vez de fuentes oficiales.</a:t>
            </a:r>
            <a:endParaRPr>
              <a:latin typeface="Caladea"/>
              <a:cs typeface="Caladea"/>
            </a:endParaRPr>
          </a:p>
        </p:txBody>
      </p:sp>
      <p:sp>
        <p:nvSpPr>
          <p:cNvPr id="2054167976" name=""/>
          <p:cNvSpPr/>
          <p:nvPr/>
        </p:nvSpPr>
        <p:spPr bwMode="auto">
          <a:xfrm rot="20938625" flipH="0" flipV="0">
            <a:off x="-1187814" y="-507044"/>
            <a:ext cx="3529852" cy="854448"/>
          </a:xfrm>
          <a:prstGeom prst="rect">
            <a:avLst/>
          </a:prstGeom>
          <a:solidFill>
            <a:srgbClr val="CD5FF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pic>
        <p:nvPicPr>
          <p:cNvPr id="1355212576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0344865" y="2710216"/>
            <a:ext cx="1716897" cy="1150322"/>
          </a:xfrm>
          <a:prstGeom prst="rect">
            <a:avLst/>
          </a:prstGeom>
        </p:spPr>
      </p:pic>
      <p:pic>
        <p:nvPicPr>
          <p:cNvPr id="1417231553" name="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9917163" y="5373967"/>
            <a:ext cx="2460245" cy="1494491"/>
          </a:xfrm>
          <a:prstGeom prst="rect">
            <a:avLst/>
          </a:prstGeom>
        </p:spPr>
      </p:pic>
      <p:pic>
        <p:nvPicPr>
          <p:cNvPr id="30641293" name=""/>
          <p:cNvPicPr>
            <a:picLocks noChangeAspect="1"/>
          </p:cNvPicPr>
          <p:nvPr/>
        </p:nvPicPr>
        <p:blipFill rotWithShape="1">
          <a:blip r:embed="rId5"/>
        </p:blipFill>
        <p:spPr bwMode="auto">
          <a:xfrm flipH="0" flipV="0">
            <a:off x="3221287" y="3711948"/>
            <a:ext cx="3209521" cy="24065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8831704" name=""/>
          <p:cNvSpPr/>
          <p:nvPr/>
        </p:nvSpPr>
        <p:spPr bwMode="auto">
          <a:xfrm rot="21017562" flipH="0" flipV="0">
            <a:off x="-1552357" y="-1109142"/>
            <a:ext cx="14711933" cy="2492026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410200177" name="Title 1"/>
          <p:cNvSpPr>
            <a:spLocks noGrp="1"/>
          </p:cNvSpPr>
          <p:nvPr>
            <p:ph type="title"/>
          </p:nvPr>
        </p:nvSpPr>
        <p:spPr bwMode="auto">
          <a:xfrm rot="21013766">
            <a:off x="193860" y="253292"/>
            <a:ext cx="10515600" cy="1325562"/>
          </a:xfrm>
        </p:spPr>
        <p:txBody>
          <a:bodyPr/>
          <a:lstStyle/>
          <a:p>
            <a:pPr>
              <a:defRPr/>
            </a:pPr>
            <a:r>
              <a:rPr sz="360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Un Asistente inteligente con empatía visual</a:t>
            </a:r>
            <a:endParaRPr>
              <a:solidFill>
                <a:schemeClr val="bg1"/>
              </a:solidFill>
              <a:latin typeface="Caladea"/>
              <a:cs typeface="Caladea"/>
            </a:endParaRPr>
          </a:p>
        </p:txBody>
      </p:sp>
      <p:sp>
        <p:nvSpPr>
          <p:cNvPr id="1865223996" name=""/>
          <p:cNvSpPr/>
          <p:nvPr/>
        </p:nvSpPr>
        <p:spPr bwMode="auto">
          <a:xfrm rot="0" flipH="0" flipV="0">
            <a:off x="6809163" y="1577431"/>
            <a:ext cx="4594411" cy="1579622"/>
          </a:xfrm>
          <a:prstGeom prst="flowChartAlternateProcess">
            <a:avLst/>
          </a:prstGeom>
          <a:solidFill>
            <a:srgbClr val="CD5FF5">
              <a:alpha val="79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967519353" name="Marcador de contenido 2"/>
          <p:cNvSpPr>
            <a:spLocks noGrp="1"/>
          </p:cNvSpPr>
          <p:nvPr>
            <p:ph idx="1"/>
          </p:nvPr>
        </p:nvSpPr>
        <p:spPr bwMode="auto">
          <a:xfrm flipH="0" flipV="0">
            <a:off x="6877361" y="1805267"/>
            <a:ext cx="4458012" cy="1011891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Conversación natural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Procesa preguntas cotidianas sin requerir jerga técnica ni filtros complicados.</a:t>
            </a:r>
            <a:endParaRPr>
              <a:latin typeface="Caladea"/>
              <a:cs typeface="Caladea"/>
            </a:endParaRPr>
          </a:p>
        </p:txBody>
      </p:sp>
      <p:sp>
        <p:nvSpPr>
          <p:cNvPr id="7343625" name=""/>
          <p:cNvSpPr/>
          <p:nvPr/>
        </p:nvSpPr>
        <p:spPr bwMode="auto">
          <a:xfrm rot="0" flipH="0" flipV="0">
            <a:off x="4063721" y="3500155"/>
            <a:ext cx="4594411" cy="1344705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233758343" name="Marcador de contenido 2"/>
          <p:cNvSpPr>
            <a:spLocks noGrp="1"/>
          </p:cNvSpPr>
          <p:nvPr/>
        </p:nvSpPr>
        <p:spPr bwMode="auto">
          <a:xfrm flipH="0" flipV="0">
            <a:off x="4131920" y="3672726"/>
            <a:ext cx="4458012" cy="999565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Visualización automática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Genera gráficas e indicadores clave.</a:t>
            </a:r>
            <a:endParaRPr>
              <a:latin typeface="Caladea"/>
              <a:cs typeface="Caladea"/>
            </a:endParaRPr>
          </a:p>
        </p:txBody>
      </p:sp>
      <p:sp>
        <p:nvSpPr>
          <p:cNvPr id="1407711344" name=""/>
          <p:cNvSpPr/>
          <p:nvPr/>
        </p:nvSpPr>
        <p:spPr bwMode="auto">
          <a:xfrm rot="0" flipH="0" flipV="0">
            <a:off x="382600" y="5151342"/>
            <a:ext cx="4594410" cy="134470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675976595" name="Marcador de contenido 2"/>
          <p:cNvSpPr>
            <a:spLocks noGrp="1"/>
          </p:cNvSpPr>
          <p:nvPr/>
        </p:nvSpPr>
        <p:spPr bwMode="auto">
          <a:xfrm flipH="0" flipV="0">
            <a:off x="577110" y="5253876"/>
            <a:ext cx="4458012" cy="99956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Trazabilidad Transparente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Cada afirmación enlaza su fuente directa a cómputos distritales oficiales.</a:t>
            </a:r>
            <a:endParaRPr>
              <a:latin typeface="Caladea"/>
              <a:cs typeface="Caladea"/>
            </a:endParaRPr>
          </a:p>
        </p:txBody>
      </p:sp>
      <p:sp>
        <p:nvSpPr>
          <p:cNvPr id="1341153633" name=""/>
          <p:cNvSpPr/>
          <p:nvPr/>
        </p:nvSpPr>
        <p:spPr bwMode="auto">
          <a:xfrm rot="20938625" flipH="0" flipV="0">
            <a:off x="-1187814" y="-507043"/>
            <a:ext cx="3529851" cy="854447"/>
          </a:xfrm>
          <a:prstGeom prst="rect">
            <a:avLst/>
          </a:prstGeom>
          <a:solidFill>
            <a:srgbClr val="CD5FF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pic>
        <p:nvPicPr>
          <p:cNvPr id="823993117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rot="20854180" flipH="0" flipV="0">
            <a:off x="3757303" y="1429620"/>
            <a:ext cx="3134433" cy="1763119"/>
          </a:xfrm>
          <a:prstGeom prst="rect">
            <a:avLst/>
          </a:prstGeom>
        </p:spPr>
      </p:pic>
      <p:pic>
        <p:nvPicPr>
          <p:cNvPr id="1316517101" name="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8297395" y="3307416"/>
            <a:ext cx="3593165" cy="3593165"/>
          </a:xfrm>
          <a:prstGeom prst="rect">
            <a:avLst/>
          </a:prstGeom>
        </p:spPr>
      </p:pic>
      <p:pic>
        <p:nvPicPr>
          <p:cNvPr id="422290684" name=""/>
          <p:cNvPicPr>
            <a:picLocks noChangeAspect="1"/>
          </p:cNvPicPr>
          <p:nvPr/>
        </p:nvPicPr>
        <p:blipFill rotWithShape="1">
          <a:blip r:embed="rId5"/>
        </p:blipFill>
        <p:spPr bwMode="auto">
          <a:xfrm flipH="0" flipV="0">
            <a:off x="577110" y="3288136"/>
            <a:ext cx="2832381" cy="1768744"/>
          </a:xfrm>
          <a:prstGeom prst="doubleWave">
            <a:avLst>
              <a:gd name="adj1" fmla="val 6250"/>
              <a:gd name="adj2" fmla="val 0"/>
            </a:avLst>
          </a:prstGeom>
          <a:effectLst/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978159" name=""/>
          <p:cNvSpPr/>
          <p:nvPr/>
        </p:nvSpPr>
        <p:spPr bwMode="auto">
          <a:xfrm rot="21017562" flipH="0" flipV="0">
            <a:off x="-1552357" y="-1109142"/>
            <a:ext cx="14711933" cy="2492026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582513063" name="Title 1"/>
          <p:cNvSpPr>
            <a:spLocks noGrp="1"/>
          </p:cNvSpPr>
          <p:nvPr>
            <p:ph type="title"/>
          </p:nvPr>
        </p:nvSpPr>
        <p:spPr bwMode="auto">
          <a:xfrm rot="21013766">
            <a:off x="193860" y="253292"/>
            <a:ext cx="10515600" cy="1325562"/>
          </a:xfrm>
        </p:spPr>
        <p:txBody>
          <a:bodyPr/>
          <a:lstStyle/>
          <a:p>
            <a:pPr>
              <a:defRPr/>
            </a:pPr>
            <a:r>
              <a:rPr sz="360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Composición narrativa dinámica</a:t>
            </a:r>
            <a:endParaRPr>
              <a:solidFill>
                <a:schemeClr val="bg1"/>
              </a:solidFill>
              <a:latin typeface="Caladea"/>
              <a:cs typeface="Caladea"/>
            </a:endParaRPr>
          </a:p>
        </p:txBody>
      </p:sp>
      <p:sp>
        <p:nvSpPr>
          <p:cNvPr id="1667624361" name=""/>
          <p:cNvSpPr/>
          <p:nvPr/>
        </p:nvSpPr>
        <p:spPr bwMode="auto">
          <a:xfrm rot="21117967" flipH="0" flipV="0">
            <a:off x="6508721" y="1419427"/>
            <a:ext cx="4594411" cy="1365731"/>
          </a:xfrm>
          <a:prstGeom prst="flowChartAlternateProcess">
            <a:avLst/>
          </a:prstGeom>
          <a:solidFill>
            <a:srgbClr val="CD5FF5">
              <a:alpha val="79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55750375" name="Marcador de contenido 2"/>
          <p:cNvSpPr>
            <a:spLocks noGrp="1"/>
          </p:cNvSpPr>
          <p:nvPr>
            <p:ph idx="1"/>
          </p:nvPr>
        </p:nvSpPr>
        <p:spPr bwMode="auto">
          <a:xfrm rot="21087643" flipH="0" flipV="0">
            <a:off x="6626973" y="1649194"/>
            <a:ext cx="4458012" cy="1011891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Cifras Destacadas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Tarjetas de alto impacto visual para las métricas principales.</a:t>
            </a:r>
            <a:endParaRPr>
              <a:latin typeface="Caladea"/>
              <a:cs typeface="Caladea"/>
            </a:endParaRPr>
          </a:p>
        </p:txBody>
      </p:sp>
      <p:sp>
        <p:nvSpPr>
          <p:cNvPr id="1932915578" name=""/>
          <p:cNvSpPr/>
          <p:nvPr/>
        </p:nvSpPr>
        <p:spPr bwMode="auto">
          <a:xfrm rot="20892375" flipH="0" flipV="0">
            <a:off x="1003484" y="4500613"/>
            <a:ext cx="4594411" cy="1344705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884449961" name="Marcador de contenido 2"/>
          <p:cNvSpPr>
            <a:spLocks noGrp="1"/>
          </p:cNvSpPr>
          <p:nvPr/>
        </p:nvSpPr>
        <p:spPr bwMode="auto">
          <a:xfrm rot="20849094" flipH="0" flipV="0">
            <a:off x="1149676" y="4642694"/>
            <a:ext cx="4302024" cy="999565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Evidencia Directa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Enlace directo a las fuentes del INE que certifican la verdad.</a:t>
            </a:r>
            <a:endParaRPr>
              <a:latin typeface="Caladea"/>
              <a:cs typeface="Caladea"/>
            </a:endParaRPr>
          </a:p>
        </p:txBody>
      </p:sp>
      <p:sp>
        <p:nvSpPr>
          <p:cNvPr id="680974005" name=""/>
          <p:cNvSpPr/>
          <p:nvPr/>
        </p:nvSpPr>
        <p:spPr bwMode="auto">
          <a:xfrm rot="21047338" flipH="0" flipV="0">
            <a:off x="738294" y="2484701"/>
            <a:ext cx="4594410" cy="134470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551800772" name="Marcador de contenido 2"/>
          <p:cNvSpPr>
            <a:spLocks noGrp="1"/>
          </p:cNvSpPr>
          <p:nvPr/>
        </p:nvSpPr>
        <p:spPr bwMode="auto">
          <a:xfrm rot="21050084" flipH="0" flipV="0">
            <a:off x="806492" y="2673160"/>
            <a:ext cx="4458012" cy="99956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Narrativa Ciudadana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Convierte datos numéricos en una explicación fluida y entendible.</a:t>
            </a:r>
            <a:endParaRPr>
              <a:latin typeface="Caladea"/>
              <a:cs typeface="Caladea"/>
            </a:endParaRPr>
          </a:p>
        </p:txBody>
      </p:sp>
      <p:sp>
        <p:nvSpPr>
          <p:cNvPr id="1025030964" name=""/>
          <p:cNvSpPr/>
          <p:nvPr/>
        </p:nvSpPr>
        <p:spPr bwMode="auto">
          <a:xfrm rot="20938625" flipH="0" flipV="0">
            <a:off x="-1187814" y="-507043"/>
            <a:ext cx="3529851" cy="854447"/>
          </a:xfrm>
          <a:prstGeom prst="rect">
            <a:avLst/>
          </a:prstGeom>
          <a:solidFill>
            <a:srgbClr val="CD5FF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895876533" name=""/>
          <p:cNvSpPr/>
          <p:nvPr/>
        </p:nvSpPr>
        <p:spPr bwMode="auto">
          <a:xfrm rot="20892375" flipH="0" flipV="0">
            <a:off x="6602531" y="3592975"/>
            <a:ext cx="4594410" cy="134470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667935290" name="Marcador de contenido 2"/>
          <p:cNvSpPr>
            <a:spLocks noGrp="1"/>
          </p:cNvSpPr>
          <p:nvPr/>
        </p:nvSpPr>
        <p:spPr bwMode="auto">
          <a:xfrm rot="20883308" flipH="0" flipV="0">
            <a:off x="6842536" y="3765545"/>
            <a:ext cx="4302024" cy="99956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Transparencia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Desplegable metodológico para usuarios que requieren auditar el cálculo.</a:t>
            </a:r>
            <a:endParaRPr>
              <a:latin typeface="Caladea"/>
              <a:cs typeface="Caladea"/>
            </a:endParaRPr>
          </a:p>
        </p:txBody>
      </p:sp>
      <p:pic>
        <p:nvPicPr>
          <p:cNvPr id="186681988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20972285" flipH="0" flipV="0">
            <a:off x="4310304" y="2546290"/>
            <a:ext cx="1500391" cy="976585"/>
          </a:xfrm>
          <a:prstGeom prst="rect">
            <a:avLst/>
          </a:prstGeom>
        </p:spPr>
      </p:pic>
      <p:pic>
        <p:nvPicPr>
          <p:cNvPr id="2096844715" name=""/>
          <p:cNvPicPr>
            <a:picLocks noChangeAspect="1"/>
          </p:cNvPicPr>
          <p:nvPr/>
        </p:nvPicPr>
        <p:blipFill rotWithShape="1">
          <a:blip r:embed="rId4"/>
        </p:blipFill>
        <p:spPr bwMode="auto">
          <a:xfrm flipH="0" flipV="0">
            <a:off x="10381642" y="1052634"/>
            <a:ext cx="1808453" cy="1808453"/>
          </a:xfrm>
          <a:prstGeom prst="rect">
            <a:avLst/>
          </a:prstGeom>
        </p:spPr>
      </p:pic>
      <p:pic>
        <p:nvPicPr>
          <p:cNvPr id="2143319422" name=""/>
          <p:cNvPicPr>
            <a:picLocks noChangeAspect="1"/>
          </p:cNvPicPr>
          <p:nvPr/>
        </p:nvPicPr>
        <p:blipFill rotWithShape="1">
          <a:blip r:embed="rId5"/>
        </p:blipFill>
        <p:spPr bwMode="auto">
          <a:xfrm rot="21020385" flipH="0" flipV="0">
            <a:off x="5038006" y="4409072"/>
            <a:ext cx="1301598" cy="1301598"/>
          </a:xfrm>
          <a:prstGeom prst="rect">
            <a:avLst/>
          </a:prstGeom>
        </p:spPr>
      </p:pic>
      <p:pic>
        <p:nvPicPr>
          <p:cNvPr id="3954078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2036891" flipH="0" flipV="0">
            <a:off x="10882058" y="3691317"/>
            <a:ext cx="638735" cy="638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648319" name=""/>
          <p:cNvSpPr/>
          <p:nvPr/>
        </p:nvSpPr>
        <p:spPr bwMode="auto">
          <a:xfrm rot="21017562" flipH="0" flipV="0">
            <a:off x="-1552357" y="-1109142"/>
            <a:ext cx="14711933" cy="2492026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398027464" name="Title 1"/>
          <p:cNvSpPr>
            <a:spLocks noGrp="1"/>
          </p:cNvSpPr>
          <p:nvPr>
            <p:ph type="title"/>
          </p:nvPr>
        </p:nvSpPr>
        <p:spPr bwMode="auto">
          <a:xfrm rot="21013766">
            <a:off x="193860" y="25329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s-ES" sz="3600" b="0" i="0" u="none" strike="noStrike" cap="none" spc="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Matriz de Criterios de Aceptación (CA-01 a CA-10)</a:t>
            </a:r>
            <a:endParaRPr>
              <a:solidFill>
                <a:schemeClr val="bg1"/>
              </a:solidFill>
              <a:latin typeface="Caladea"/>
              <a:cs typeface="Caladea"/>
            </a:endParaRPr>
          </a:p>
        </p:txBody>
      </p:sp>
      <p:sp>
        <p:nvSpPr>
          <p:cNvPr id="323196003" name=""/>
          <p:cNvSpPr/>
          <p:nvPr/>
        </p:nvSpPr>
        <p:spPr bwMode="auto">
          <a:xfrm rot="0" flipH="0" flipV="0">
            <a:off x="738294" y="5299464"/>
            <a:ext cx="4594411" cy="1365731"/>
          </a:xfrm>
          <a:prstGeom prst="flowChartAlternateProcess">
            <a:avLst/>
          </a:prstGeom>
          <a:solidFill>
            <a:srgbClr val="CD5FF5">
              <a:alpha val="79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176650266" name="Marcador de contenido 2"/>
          <p:cNvSpPr>
            <a:spLocks noGrp="1"/>
          </p:cNvSpPr>
          <p:nvPr>
            <p:ph idx="1"/>
          </p:nvPr>
        </p:nvSpPr>
        <p:spPr bwMode="auto">
          <a:xfrm rot="0" flipH="0" flipV="0">
            <a:off x="738294" y="5417173"/>
            <a:ext cx="4458012" cy="1011891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Versatilidad de Vistas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Soporte de cambio dinámico entre gráficas interactivas y tablas navegables.</a:t>
            </a:r>
            <a:endParaRPr>
              <a:latin typeface="Caladea"/>
              <a:cs typeface="Caladea"/>
            </a:endParaRPr>
          </a:p>
        </p:txBody>
      </p:sp>
      <p:sp>
        <p:nvSpPr>
          <p:cNvPr id="31693130" name=""/>
          <p:cNvSpPr/>
          <p:nvPr/>
        </p:nvSpPr>
        <p:spPr bwMode="auto">
          <a:xfrm rot="0" flipH="0" flipV="0">
            <a:off x="738294" y="3884289"/>
            <a:ext cx="4594411" cy="1344705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297545819" name="Marcador de contenido 2"/>
          <p:cNvSpPr>
            <a:spLocks noGrp="1"/>
          </p:cNvSpPr>
          <p:nvPr/>
        </p:nvSpPr>
        <p:spPr bwMode="auto">
          <a:xfrm rot="0" flipH="0" flipV="0">
            <a:off x="884486" y="4000830"/>
            <a:ext cx="4302024" cy="999565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Reglas de Contenido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Rechazo amigable a preguntas fuera de tema o análisis de causalidad sesgada.</a:t>
            </a:r>
            <a:endParaRPr>
              <a:latin typeface="Caladea"/>
              <a:cs typeface="Caladea"/>
            </a:endParaRPr>
          </a:p>
        </p:txBody>
      </p:sp>
      <p:sp>
        <p:nvSpPr>
          <p:cNvPr id="1386569388" name=""/>
          <p:cNvSpPr/>
          <p:nvPr/>
        </p:nvSpPr>
        <p:spPr bwMode="auto">
          <a:xfrm rot="0" flipH="0" flipV="0">
            <a:off x="738294" y="2484701"/>
            <a:ext cx="4594410" cy="1344704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1706633345" name="Marcador de contenido 2"/>
          <p:cNvSpPr>
            <a:spLocks noGrp="1"/>
          </p:cNvSpPr>
          <p:nvPr/>
        </p:nvSpPr>
        <p:spPr bwMode="auto">
          <a:xfrm rot="0" flipH="0" flipV="0">
            <a:off x="806492" y="2673160"/>
            <a:ext cx="4458012" cy="99956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200" b="0" i="0" u="none" strike="noStrike" cap="none" spc="0">
                <a:solidFill>
                  <a:schemeClr val="bg1">
                    <a:lumMod val="85000"/>
                  </a:schemeClr>
                </a:solidFill>
                <a:latin typeface="Caladea"/>
                <a:ea typeface="Caladea"/>
                <a:cs typeface="Caladea"/>
              </a:rPr>
              <a:t>Prevención de Alucinaciones</a:t>
            </a:r>
            <a:endParaRPr sz="2200">
              <a:solidFill>
                <a:schemeClr val="bg1">
                  <a:lumMod val="85000"/>
                </a:schemeClr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s-ES" sz="18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Cero datos inventados; llamadas estrictas a herramientas.</a:t>
            </a:r>
            <a:endParaRPr>
              <a:latin typeface="Caladea"/>
              <a:cs typeface="Caladea"/>
            </a:endParaRPr>
          </a:p>
        </p:txBody>
      </p:sp>
      <p:sp>
        <p:nvSpPr>
          <p:cNvPr id="1613456747" name=""/>
          <p:cNvSpPr/>
          <p:nvPr/>
        </p:nvSpPr>
        <p:spPr bwMode="auto">
          <a:xfrm rot="20938625" flipH="0" flipV="0">
            <a:off x="-1187814" y="-507043"/>
            <a:ext cx="3529851" cy="854447"/>
          </a:xfrm>
          <a:prstGeom prst="rect">
            <a:avLst/>
          </a:prstGeom>
          <a:solidFill>
            <a:srgbClr val="CD5FF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342537697" name=""/>
          <p:cNvSpPr/>
          <p:nvPr/>
        </p:nvSpPr>
        <p:spPr bwMode="auto">
          <a:xfrm rot="0" flipH="0" flipV="0">
            <a:off x="6871833" y="1810667"/>
            <a:ext cx="4594410" cy="4700447"/>
          </a:xfrm>
          <a:prstGeom prst="flowChartAlternateProcess">
            <a:avLst/>
          </a:prstGeom>
          <a:solidFill>
            <a:schemeClr val="tx1">
              <a:alpha val="99999"/>
            </a:scheme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437691435" name=""/>
          <p:cNvSpPr/>
          <p:nvPr/>
        </p:nvSpPr>
        <p:spPr bwMode="auto">
          <a:xfrm rot="0" flipH="0" flipV="0">
            <a:off x="7344070" y="5780191"/>
            <a:ext cx="3740510" cy="285855"/>
          </a:xfrm>
          <a:prstGeom prst="flowChartAlternateProcess">
            <a:avLst/>
          </a:prstGeom>
          <a:solidFill>
            <a:srgbClr val="CD5FF5">
              <a:alpha val="80000"/>
            </a:srgbClr>
          </a:solidFill>
          <a:ln w="28575" cap="flat" cmpd="sng" algn="ctr">
            <a:noFill/>
            <a:prstDash val="solid"/>
            <a:miter lim="800000"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2008153119" name=""/>
          <p:cNvSpPr/>
          <p:nvPr/>
        </p:nvSpPr>
        <p:spPr bwMode="auto">
          <a:xfrm flipH="0" flipV="0">
            <a:off x="7682257" y="4255433"/>
            <a:ext cx="3064136" cy="1310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r>
              <a:rPr sz="8000" b="1">
                <a:ln w="12700">
                  <a:noFill/>
                </a:ln>
                <a:solidFill>
                  <a:srgbClr val="CD5FF5">
                    <a:alpha val="99999"/>
                  </a:srgbClr>
                </a:solidFill>
              </a:rPr>
              <a:t>100 </a:t>
            </a:r>
            <a:r>
              <a:rPr sz="5400" b="1">
                <a:ln w="12700">
                  <a:noFill/>
                </a:ln>
                <a:solidFill>
                  <a:srgbClr val="CD5FF5">
                    <a:alpha val="99999"/>
                  </a:srgbClr>
                </a:solidFill>
              </a:rPr>
              <a:t>%</a:t>
            </a:r>
            <a:endParaRPr sz="5400" b="1">
              <a:ln w="12700">
                <a:noFill/>
              </a:ln>
              <a:solidFill>
                <a:srgbClr val="CD5FF5">
                  <a:alpha val="99999"/>
                </a:srgbClr>
              </a:solidFill>
            </a:endParaRPr>
          </a:p>
        </p:txBody>
      </p:sp>
      <p:sp>
        <p:nvSpPr>
          <p:cNvPr id="610022003" name=""/>
          <p:cNvSpPr txBox="1"/>
          <p:nvPr/>
        </p:nvSpPr>
        <p:spPr bwMode="auto">
          <a:xfrm rot="0" flipH="0" flipV="0">
            <a:off x="7411322" y="2265454"/>
            <a:ext cx="3549619" cy="1981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800" b="1" i="0" u="none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Cobertura de Casos de Uso Cívicos</a:t>
            </a:r>
            <a:br>
              <a:rPr sz="2400" b="1">
                <a:solidFill>
                  <a:schemeClr val="bg1"/>
                </a:solidFill>
                <a:latin typeface="Caladea"/>
                <a:ea typeface="Caladea"/>
                <a:cs typeface="Caladea"/>
              </a:rPr>
            </a:br>
            <a:endParaRPr sz="2400" b="1">
              <a:solidFill>
                <a:schemeClr val="bg1"/>
              </a:solidFill>
              <a:latin typeface="Caladea"/>
              <a:cs typeface="Caladea"/>
            </a:endParaRPr>
          </a:p>
          <a:p>
            <a:pPr>
              <a:defRPr/>
            </a:pPr>
            <a:r>
              <a:rPr lang="es-ES" sz="1600" b="0" i="0" u="none" strike="noStrike" cap="none" spc="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Desde consultas demográficas (edad/sexo) hasta comparativas históricas 2009 vs 2024 validadas bajo pruebas exhaustivas.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958557" name=""/>
          <p:cNvSpPr/>
          <p:nvPr/>
        </p:nvSpPr>
        <p:spPr bwMode="auto">
          <a:xfrm rot="21017562" flipH="0" flipV="0">
            <a:off x="-1552357" y="-1109142"/>
            <a:ext cx="14711933" cy="2492026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  <p:sp>
        <p:nvSpPr>
          <p:cNvPr id="537654111" name="Title 1"/>
          <p:cNvSpPr>
            <a:spLocks noGrp="1"/>
          </p:cNvSpPr>
          <p:nvPr>
            <p:ph type="title"/>
          </p:nvPr>
        </p:nvSpPr>
        <p:spPr bwMode="auto">
          <a:xfrm rot="21013766">
            <a:off x="193860" y="253292"/>
            <a:ext cx="10515600" cy="1325562"/>
          </a:xfrm>
        </p:spPr>
        <p:txBody>
          <a:bodyPr/>
          <a:lstStyle/>
          <a:p>
            <a:pPr>
              <a:defRPr/>
            </a:pPr>
            <a:r>
              <a:rPr sz="3600">
                <a:solidFill>
                  <a:schemeClr val="bg1"/>
                </a:solidFill>
                <a:latin typeface="Caladea"/>
                <a:ea typeface="Caladea"/>
                <a:cs typeface="Caladea"/>
              </a:rPr>
              <a:t>Empoderando al ciudadano con transparencia e innovación </a:t>
            </a:r>
            <a:endParaRPr>
              <a:solidFill>
                <a:schemeClr val="bg1"/>
              </a:solidFill>
              <a:latin typeface="Caladea"/>
              <a:cs typeface="Caladea"/>
            </a:endParaRPr>
          </a:p>
        </p:txBody>
      </p:sp>
      <p:sp>
        <p:nvSpPr>
          <p:cNvPr id="21558178" name="Marcador de contenido 2"/>
          <p:cNvSpPr>
            <a:spLocks noGrp="1"/>
          </p:cNvSpPr>
          <p:nvPr/>
        </p:nvSpPr>
        <p:spPr bwMode="auto">
          <a:xfrm rot="0" flipH="0" flipV="0">
            <a:off x="2037187" y="2929217"/>
            <a:ext cx="8117624" cy="999564"/>
          </a:xfrm>
          <a:prstGeom prst="rect">
            <a:avLst/>
          </a:prstGeom>
          <a:noFill/>
          <a:effectLst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s-E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Una solución intuitiva, visual, transparente y rigurosamente auditada. </a:t>
            </a:r>
            <a:endParaRPr/>
          </a:p>
        </p:txBody>
      </p:sp>
      <p:sp>
        <p:nvSpPr>
          <p:cNvPr id="1359933921" name=""/>
          <p:cNvSpPr/>
          <p:nvPr/>
        </p:nvSpPr>
        <p:spPr bwMode="auto">
          <a:xfrm rot="20938625" flipH="0" flipV="0">
            <a:off x="-1187814" y="-507043"/>
            <a:ext cx="3529851" cy="854447"/>
          </a:xfrm>
          <a:prstGeom prst="rect">
            <a:avLst/>
          </a:prstGeom>
          <a:solidFill>
            <a:srgbClr val="CD5FF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2026-10-31T17:23:04Z</dcterms:modified>
</cp:coreProperties>
</file>